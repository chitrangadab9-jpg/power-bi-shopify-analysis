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embeddedFontLst>
    <p:embeddedFont>
      <p:font typeface="Noto Serif SC Bold" panose="020B0604020202020204" charset="-128"/>
      <p:regular r:id="rId10"/>
    </p:embeddedFont>
    <p:embeddedFont>
      <p:font typeface="Geist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0294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F13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8319" y="724198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Shopify Analysis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574" y="1390452"/>
            <a:ext cx="4389923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STEPS IN PROJECT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574" y="2146399"/>
            <a:ext cx="10868547" cy="3987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Requirement Gathering/ Business Requirements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Walkthrough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Connection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Cleaning / Quality Check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Modeling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 Processing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DAX Calculations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Dashboard Lay outing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Charts Development and Formatting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Dashboard / Report Development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Insights Generation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8319" y="601067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Shopify Analysis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574" y="1267321"/>
            <a:ext cx="5675567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BUSINESS REQUIREMENT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574" y="2023269"/>
            <a:ext cx="1086854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goal of this project is to analyze Shopify sales data in Power BI to uncover meaningful insights into transaction performance, customer purchasing behavior, and long-term customer value. By designing an interactive dashboard, the objective is to help stakeholders identify patterns in revenue generation, customer retention, and engagement trends to support data-driven decision-making.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574" y="3516412"/>
            <a:ext cx="4389923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KPI's Requirements</a:t>
            </a:r>
            <a:endParaRPr lang="en-US" sz="2950" dirty="0"/>
          </a:p>
        </p:txBody>
      </p:sp>
      <p:sp>
        <p:nvSpPr>
          <p:cNvPr id="6" name="Text 4"/>
          <p:cNvSpPr/>
          <p:nvPr/>
        </p:nvSpPr>
        <p:spPr>
          <a:xfrm>
            <a:off x="661574" y="4064496"/>
            <a:ext cx="4763472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1. Transactions Performance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61574" y="4702373"/>
            <a:ext cx="114781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section focuses on evaluating the overall health and effectiveness of sales operations by tracking: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574" y="5217418"/>
            <a:ext cx="10868547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Net Sales</a:t>
            </a: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Total revenue generated before tax.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Total Quantity</a:t>
            </a: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The cumulative number of products sold.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Net Avg Order Value</a:t>
            </a: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The average revenue per transaction, excluding tax.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46485" y="559991"/>
            <a:ext cx="5098724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Shopify Analysis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574" y="1189335"/>
            <a:ext cx="5422864" cy="448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BUSINESS REQUIREMENT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61574" y="1706463"/>
            <a:ext cx="3303009" cy="336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KPI's Requirements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61574" y="2298998"/>
            <a:ext cx="10868547" cy="75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2. Customer Purchase Behavior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Understanding how customers interact with the business is critical. This section highlights: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1574" y="3242965"/>
            <a:ext cx="10868547" cy="959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Total Customers</a:t>
            </a: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The count of unique buyers.</a:t>
            </a:r>
            <a:endParaRPr lang="en-US" sz="14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Single Order Customers</a:t>
            </a: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Customers who placed only one order.</a:t>
            </a:r>
            <a:endParaRPr lang="en-US" sz="14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Repeat Customers</a:t>
            </a: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Customers with more than one order, indicating loyalty.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1574" y="4394398"/>
            <a:ext cx="10868547" cy="752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3. Retention &amp; Value KPIs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 evaluate long-term growth and customer value, this section includes: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1574" y="5338366"/>
            <a:ext cx="10868547" cy="959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Lifetime Value (LTV)</a:t>
            </a: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The total revenue generated by a customer over time.</a:t>
            </a:r>
            <a:endParaRPr lang="en-US" sz="14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Repeat Rate</a:t>
            </a: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The percentage of customers who return to make another purchase.</a:t>
            </a:r>
            <a:endParaRPr lang="en-US" sz="14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Purchase Frequency</a:t>
            </a: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How often customers place orders, on average.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4553" y="526256"/>
            <a:ext cx="486249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Shopify Analysis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574" y="1119088"/>
            <a:ext cx="5170160" cy="425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BUSINESS REQUIREMENT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661574" y="1605558"/>
            <a:ext cx="4285647" cy="425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Charts Requirements</a:t>
            </a:r>
            <a:endParaRPr lang="en-US" sz="2650" dirty="0"/>
          </a:p>
        </p:txBody>
      </p:sp>
      <p:sp>
        <p:nvSpPr>
          <p:cNvPr id="5" name="Text 3"/>
          <p:cNvSpPr/>
          <p:nvPr/>
        </p:nvSpPr>
        <p:spPr>
          <a:xfrm>
            <a:off x="661574" y="2260402"/>
            <a:ext cx="11478132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  </a:t>
            </a:r>
            <a:r>
              <a:rPr lang="en-US" sz="105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section will support dynamic analysis using a </a:t>
            </a:r>
            <a:r>
              <a:rPr lang="en-US" sz="1050" b="1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measure selector</a:t>
            </a:r>
            <a:r>
              <a:rPr lang="en-US" sz="105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for:       </a:t>
            </a:r>
            <a:r>
              <a:rPr lang="en-US" sz="1050" b="1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Net Sales</a:t>
            </a:r>
            <a:r>
              <a:rPr lang="en-US" sz="105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050" b="1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Total Quantity</a:t>
            </a:r>
            <a:r>
              <a:rPr lang="en-US" sz="105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050" b="1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Total Customers</a:t>
            </a:r>
            <a:r>
              <a:rPr lang="en-US" sz="1050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050" b="1" i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Repeat Customers</a:t>
            </a:r>
            <a:r>
              <a:rPr lang="en-US" sz="10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61574" y="2639516"/>
            <a:ext cx="10868547" cy="3692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b="1" dirty="0">
                <a:solidFill>
                  <a:srgbClr val="FFD96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1. Regional Overview - Province and Cities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    </a:t>
            </a:r>
            <a:endParaRPr lang="en-US" sz="1300" dirty="0"/>
          </a:p>
          <a:p>
            <a:pPr marL="685800" lvl="1" indent="-342900" algn="l">
              <a:lnSpc>
                <a:spcPct val="127000"/>
              </a:lnSpc>
              <a:buSzPct val="100000"/>
              <a:buChar char="◦"/>
            </a:pPr>
            <a:r>
              <a:rPr lang="en-US" sz="1300" dirty="0">
                <a:solidFill>
                  <a:srgbClr val="BCCCE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Filled Map (Province-Level)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        </a:t>
            </a:r>
            <a:endParaRPr lang="en-US" sz="1300" dirty="0"/>
          </a:p>
          <a:p>
            <a:pPr marL="1028700" lvl="2" indent="-342900" algn="l">
              <a:lnSpc>
                <a:spcPct val="127000"/>
              </a:lnSpc>
              <a:buSzPct val="100000"/>
              <a:buChar char="￭"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Purpose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Display province-wise performance using </a:t>
            </a: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color saturation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based on the selected measure.</a:t>
            </a:r>
            <a:endParaRPr lang="en-US" sz="1300" dirty="0"/>
          </a:p>
          <a:p>
            <a:pPr marL="1028700" lvl="2" indent="-342900" algn="l">
              <a:lnSpc>
                <a:spcPct val="127000"/>
              </a:lnSpc>
              <a:buSzPct val="100000"/>
              <a:buChar char="￭"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Interactivity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Changes dynamically with the measure selector.</a:t>
            </a:r>
            <a:endParaRPr lang="en-US" sz="1300" dirty="0"/>
          </a:p>
          <a:p>
            <a:pPr marL="685800" lvl="1" indent="-342900" algn="l">
              <a:lnSpc>
                <a:spcPct val="127000"/>
              </a:lnSpc>
              <a:buSzPct val="100000"/>
              <a:buChar char="◦"/>
            </a:pPr>
            <a:r>
              <a:rPr lang="en-US" sz="1300" dirty="0">
                <a:solidFill>
                  <a:srgbClr val="BCCCE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Bubble Map / Density Map (City Level)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        </a:t>
            </a:r>
            <a:endParaRPr lang="en-US" sz="1300" dirty="0"/>
          </a:p>
          <a:p>
            <a:pPr marL="1028700" lvl="2" indent="-342900" algn="l">
              <a:lnSpc>
                <a:spcPct val="127000"/>
              </a:lnSpc>
              <a:buSzPct val="100000"/>
              <a:buChar char="￭"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Purpose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Visually represent </a:t>
            </a: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sales or customer density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at a more granular level.</a:t>
            </a:r>
            <a:endParaRPr lang="en-US" sz="1300" dirty="0"/>
          </a:p>
          <a:p>
            <a:pPr marL="1028700" lvl="2" indent="-342900" algn="l">
              <a:lnSpc>
                <a:spcPct val="127000"/>
              </a:lnSpc>
              <a:buSzPct val="100000"/>
              <a:buChar char="￭"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Bubble Size or Heat Intensity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Driven by the selected measure.</a:t>
            </a:r>
            <a:endParaRPr lang="en-US" sz="1300" dirty="0"/>
          </a:p>
          <a:p>
            <a:pPr marL="1028700" lvl="2" indent="-342900" algn="l">
              <a:lnSpc>
                <a:spcPct val="127000"/>
              </a:lnSpc>
              <a:buSzPct val="100000"/>
              <a:buChar char="￭"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Tooltip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Shows all key metrics (Net Sales, Quantity, Total Customers, Repeat Customers).</a:t>
            </a:r>
            <a:endParaRPr lang="en-US" sz="13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BCCCE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Bar Chart (City-Level Performance)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    </a:t>
            </a:r>
            <a:endParaRPr lang="en-US" sz="1300" dirty="0"/>
          </a:p>
          <a:p>
            <a:pPr marL="685800" lvl="1" indent="-342900" algn="l">
              <a:lnSpc>
                <a:spcPct val="127000"/>
              </a:lnSpc>
              <a:buSzPct val="100000"/>
              <a:buChar char="◦"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Purpose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Compare </a:t>
            </a: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top-performing cities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based on the selected KPI.</a:t>
            </a:r>
            <a:endParaRPr lang="en-US" sz="1300" dirty="0"/>
          </a:p>
          <a:p>
            <a:pPr marL="685800" lvl="1" indent="-342900" algn="l">
              <a:lnSpc>
                <a:spcPct val="127000"/>
              </a:lnSpc>
              <a:buSzPct val="100000"/>
              <a:buChar char="◦"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Sorted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Descending order by selected measure.</a:t>
            </a:r>
            <a:endParaRPr lang="en-US" sz="1300" dirty="0"/>
          </a:p>
          <a:p>
            <a:pPr marL="685800" lvl="1" indent="-342900" algn="l">
              <a:lnSpc>
                <a:spcPct val="127000"/>
              </a:lnSpc>
              <a:buSzPct val="100000"/>
              <a:buChar char="◦"/>
            </a:pPr>
            <a:r>
              <a:rPr lang="en-US" sz="130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Dynamic</a:t>
            </a:r>
            <a:r>
              <a:rPr lang="en-US" sz="13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Interacts with slicers/filters and responds to the KPI selector.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8319" y="837406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Shopify Analysis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574" y="1503660"/>
            <a:ext cx="5675567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88BC64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BUSINESS REQUIREMENT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574" y="2051745"/>
            <a:ext cx="367239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Charts Requirements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61574" y="2689622"/>
            <a:ext cx="1086854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F6BF9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This section will support dynamic analysis using a </a:t>
            </a:r>
            <a:r>
              <a:rPr lang="en-US" sz="1450" b="1" dirty="0">
                <a:solidFill>
                  <a:srgbClr val="F6BF9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measure selector</a:t>
            </a:r>
            <a:r>
              <a:rPr lang="en-US" sz="1450" i="1" dirty="0">
                <a:solidFill>
                  <a:srgbClr val="F6BF9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for: </a:t>
            </a:r>
            <a:r>
              <a:rPr lang="en-US" sz="1450" b="1" dirty="0">
                <a:solidFill>
                  <a:srgbClr val="F6BF9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Net Sales</a:t>
            </a:r>
            <a:r>
              <a:rPr lang="en-US" sz="1450" i="1" dirty="0">
                <a:solidFill>
                  <a:srgbClr val="F6BF9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450" b="1" dirty="0">
                <a:solidFill>
                  <a:srgbClr val="F6BF9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Total Quantity</a:t>
            </a:r>
            <a:r>
              <a:rPr lang="en-US" sz="1450" i="1" dirty="0">
                <a:solidFill>
                  <a:srgbClr val="F6BF9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450" b="1" dirty="0">
                <a:solidFill>
                  <a:srgbClr val="F6BF9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Total Customers</a:t>
            </a:r>
            <a:r>
              <a:rPr lang="en-US" sz="1450" i="1" dirty="0">
                <a:solidFill>
                  <a:srgbClr val="F6BF9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</a:t>
            </a:r>
            <a:r>
              <a:rPr lang="en-US" sz="1450" b="1" dirty="0">
                <a:solidFill>
                  <a:srgbClr val="F6BF9A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Repeat Customers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574" y="3507085"/>
            <a:ext cx="10868547" cy="2513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FFD96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2. Sales Trend Over Time</a:t>
            </a:r>
            <a:endParaRPr lang="en-US" sz="1450" dirty="0"/>
          </a:p>
          <a:p>
            <a:pPr marL="685800" lvl="1" indent="-342900" algn="l">
              <a:lnSpc>
                <a:spcPct val="133000"/>
              </a:lnSpc>
              <a:buSzPct val="100000"/>
              <a:buChar char="◦"/>
            </a:pPr>
            <a:r>
              <a:rPr lang="en-US" sz="1450" dirty="0">
                <a:solidFill>
                  <a:srgbClr val="94AED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Area Chart – Trend by Day</a:t>
            </a:r>
            <a:endParaRPr lang="en-US" sz="1450" dirty="0"/>
          </a:p>
          <a:p>
            <a:pPr marL="1028700" lvl="2" indent="-342900" algn="l">
              <a:lnSpc>
                <a:spcPct val="133000"/>
              </a:lnSpc>
              <a:buSzPct val="100000"/>
              <a:buChar char="￭"/>
            </a:pPr>
            <a:r>
              <a:rPr lang="en-US" sz="14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Purpose</a:t>
            </a: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Show the </a:t>
            </a:r>
            <a:r>
              <a:rPr lang="en-US" sz="14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daily trend</a:t>
            </a: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of the selected measure (e.g., daily Net Sales or daily Repeat Customers).</a:t>
            </a:r>
            <a:endParaRPr lang="en-US" sz="1450" dirty="0"/>
          </a:p>
          <a:p>
            <a:pPr marL="1028700" lvl="2" indent="-342900" algn="l">
              <a:lnSpc>
                <a:spcPct val="133000"/>
              </a:lnSpc>
              <a:buSzPct val="100000"/>
              <a:buChar char="￭"/>
            </a:pPr>
            <a:r>
              <a:rPr lang="en-US" sz="14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Interactivity</a:t>
            </a: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Changes dynamically based on the selected measure.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94AEDD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Bar Chart or Line Chart – Trend by Hour</a:t>
            </a:r>
            <a:endParaRPr lang="en-US" sz="1450" dirty="0"/>
          </a:p>
          <a:p>
            <a:pPr marL="685800" lvl="1" indent="-342900" algn="l">
              <a:lnSpc>
                <a:spcPct val="133000"/>
              </a:lnSpc>
              <a:buSzPct val="100000"/>
              <a:buChar char="◦"/>
            </a:pPr>
            <a:r>
              <a:rPr lang="en-US" sz="14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Purpose</a:t>
            </a: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: Display </a:t>
            </a:r>
            <a:r>
              <a:rPr lang="en-US" sz="14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sales or customer activity by hour of the day</a:t>
            </a: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(e.g., 0–23 hrs), revealing peak activity periods.</a:t>
            </a:r>
            <a:endParaRPr lang="en-US" sz="1450" dirty="0"/>
          </a:p>
          <a:p>
            <a:pPr marL="685800" lvl="1" indent="-342900" algn="l">
              <a:lnSpc>
                <a:spcPct val="133000"/>
              </a:lnSpc>
              <a:buSzPct val="100000"/>
              <a:buChar char="◦"/>
            </a:pPr>
            <a:r>
              <a:rPr lang="en-US" sz="14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 Case:</a:t>
            </a: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Helps understand time-of-day behavior, useful for marketing or operational timing decisions.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8319" y="759321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Shopify Analysis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574" y="1425575"/>
            <a:ext cx="5675567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BUSINESS REQUIREMENT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574" y="1973659"/>
            <a:ext cx="4693029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Charts Requirements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574" y="2521744"/>
            <a:ext cx="10868547" cy="708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       </a:t>
            </a:r>
            <a:r>
              <a:rPr lang="en-US" sz="2200" b="1" i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This section will support dynamic analysis using a measure selector for: Net Sales, Total Quantity, Total Customers, Repeat Customers</a:t>
            </a:r>
            <a:r>
              <a:rPr lang="en-US" sz="22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     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61574" y="3514030"/>
            <a:ext cx="114781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3. Gateway Payment Method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61574" y="4029075"/>
            <a:ext cx="10868547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Identify the </a:t>
            </a:r>
            <a:r>
              <a:rPr lang="en-US" sz="14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most and least used payment methods</a:t>
            </a: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Detect </a:t>
            </a:r>
            <a:r>
              <a:rPr lang="en-US" sz="14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customer preferences</a:t>
            </a: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across regions or campaigns.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574" y="4912618"/>
            <a:ext cx="1147813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4. Product Type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574" y="5427663"/>
            <a:ext cx="10868547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Determine which </a:t>
            </a:r>
            <a:r>
              <a:rPr lang="en-US" sz="14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product types generate the highest revenue and order volume</a:t>
            </a: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Understand how </a:t>
            </a:r>
            <a:r>
              <a:rPr lang="en-US" sz="14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customer engagement varies</a:t>
            </a: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across different product categories.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8319" y="1347688"/>
            <a:ext cx="5334958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Shopify Analysis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574" y="2013942"/>
            <a:ext cx="5675567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BUSINESS REQUIREMENT</a:t>
            </a:r>
            <a:endParaRPr lang="en-US" sz="2950" dirty="0"/>
          </a:p>
        </p:txBody>
      </p:sp>
      <p:sp>
        <p:nvSpPr>
          <p:cNvPr id="4" name="Text 2"/>
          <p:cNvSpPr/>
          <p:nvPr/>
        </p:nvSpPr>
        <p:spPr>
          <a:xfrm>
            <a:off x="661574" y="2562027"/>
            <a:ext cx="4693029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Charts Requirements</a:t>
            </a:r>
            <a:endParaRPr lang="en-US" sz="2950" dirty="0"/>
          </a:p>
        </p:txBody>
      </p:sp>
      <p:sp>
        <p:nvSpPr>
          <p:cNvPr id="5" name="Text 3"/>
          <p:cNvSpPr/>
          <p:nvPr/>
        </p:nvSpPr>
        <p:spPr>
          <a:xfrm>
            <a:off x="661574" y="3110111"/>
            <a:ext cx="10868547" cy="708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       </a:t>
            </a:r>
            <a:r>
              <a:rPr lang="en-US" sz="2200" b="1" i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This section will support dynamic analysis using a measure selector for: Net Sales, Total Quantity, Total Customers, Repeat Customers</a:t>
            </a:r>
            <a:r>
              <a:rPr lang="en-US" sz="2200" b="1" dirty="0">
                <a:solidFill>
                  <a:srgbClr val="FFFFFF"/>
                </a:solidFill>
                <a:latin typeface="Noto Serif SC Bold" pitchFamily="34" charset="0"/>
                <a:ea typeface="Noto Serif SC Bold" pitchFamily="34" charset="-122"/>
                <a:cs typeface="Noto Serif SC Bold" pitchFamily="34" charset="-120"/>
              </a:rPr>
              <a:t>     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61574" y="4102398"/>
            <a:ext cx="10868547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Provide a </a:t>
            </a:r>
            <a:r>
              <a:rPr lang="en-US" sz="14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dedicated page</a:t>
            </a: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display transaction-level or detailed data.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Allow users to </a:t>
            </a:r>
            <a:r>
              <a:rPr lang="en-US" sz="14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drill through</a:t>
            </a: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from summary visuals (like charts and KPIs) to see underlying records.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Enable users to explore data at a </a:t>
            </a:r>
            <a:r>
              <a:rPr lang="en-US" sz="14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granular level</a:t>
            </a: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, such as individual orders, customers, or product types.</a:t>
            </a:r>
            <a:endParaRPr lang="en-US" sz="145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Help explain </a:t>
            </a:r>
            <a:r>
              <a:rPr lang="en-US" sz="14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summary trends</a:t>
            </a: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</a:t>
            </a:r>
            <a:r>
              <a:rPr lang="en-US" sz="1450" b="1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validate aggregated metrics</a:t>
            </a:r>
            <a:r>
              <a:rPr lang="en-US" sz="14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with raw data.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</Words>
  <Application>Microsoft Office PowerPoint</Application>
  <PresentationFormat>Widescreen</PresentationFormat>
  <Paragraphs>87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Geist</vt:lpstr>
      <vt:lpstr>Noto Serif SC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Chitrangada Behera</cp:lastModifiedBy>
  <cp:revision>1</cp:revision>
  <dcterms:created xsi:type="dcterms:W3CDTF">2026-06-09T09:33:47Z</dcterms:created>
  <dcterms:modified xsi:type="dcterms:W3CDTF">2026-06-09T09:34:12Z</dcterms:modified>
</cp:coreProperties>
</file>